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Frame the system in leadership terms: this is a control model for AI-assisted delivery.</a:t>
            </a:r>
          </a:p>
          <a:p>
            <a:r>
              <a:t>Open with the idea that the workflow is designed to reduce waste, not simply increase agent activity.</a:t>
            </a:r>
          </a:p>
          <a:p>
            <a:r>
              <a:t>Use the three cards to summarize the ROI story: cost control at the start, execution control in the middle, and quality control at the end.</a:t>
            </a:r>
          </a:p>
          <a:p>
            <a:r>
              <a:t>Tell the audience this version intentionally compresses technical detail into operating-value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Tie the workflow directly to familiar delivery waste.</a:t>
            </a:r>
          </a:p>
          <a:p>
            <a:r>
              <a:t>This slide is about rework, inconsistent validation, and restart cost rather than about model architecture.</a:t>
            </a:r>
          </a:p>
          <a:p>
            <a:r>
              <a:t>Make clear that the pain is economic: teams lose time both when they start the wrong work and when they cannot trust or resume what was done.</a:t>
            </a:r>
          </a:p>
          <a:p>
            <a:r>
              <a:t>That is the business justification for adding an intake gate, routing logic, and durable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Explain the flow as a sequence of business controls.</a:t>
            </a:r>
          </a:p>
          <a:p>
            <a:r>
              <a:t>The first control is whether the work should even proceed in its current form.</a:t>
            </a:r>
          </a:p>
          <a:p>
            <a:r>
              <a:t>The second is specialist fit: route only to the roles the task genuinely needs.</a:t>
            </a:r>
          </a:p>
          <a:p>
            <a:r>
              <a:t>The final controls are independent validation and durable evidence, which improve trust and resumability.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Translate technical workflow benefits into operating metrics.</a:t>
            </a:r>
          </a:p>
          <a:p>
            <a:r>
              <a:t>Leaders should hear this slide as a list of performance levers: rework, restart time, confidence, budget discipline, and coordination cost.</a:t>
            </a:r>
          </a:p>
          <a:p>
            <a:r>
              <a:t>The workflow is creating value by reducing uncertainty and making specialist effort more reusable.</a:t>
            </a:r>
          </a:p>
          <a:p>
            <a:r>
              <a:t>Call out that the model is most financially attractive when tasks are large enough for those savings to compound.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Use this slide to avoid the impression that more orchestration is always better.</a:t>
            </a:r>
          </a:p>
          <a:p>
            <a:r>
              <a:t>The strongest argument for the workflow is selective use on work with enough ambiguity, scale, or validation need to justify the control layer.</a:t>
            </a:r>
          </a:p>
          <a:p>
            <a:r>
              <a:t>That discipline protects both speed and credibility.</a:t>
            </a:r>
          </a:p>
          <a:p>
            <a:r>
              <a:t>If needed, summarize the decision rule as: use the model where rework or restart cost is materially higher than the coordination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t>Close with a concrete adoption stance rather than a vague recommendation.</a:t>
            </a:r>
          </a:p>
          <a:p>
            <a:r>
              <a:t>Suggest a pilot on tasks where ambiguity, handoffs, and validation already create visible pain.</a:t>
            </a:r>
          </a:p>
          <a:p>
            <a:r>
              <a:t>Track a small KPI set so the workflow can be evaluated as an operating improvement rather than as an AI experiment.</a:t>
            </a:r>
          </a:p>
          <a:p>
            <a:r>
              <a:t>End by restating the core idea: this model is most useful when control, trust, and resumability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502920"/>
            <a:ext cx="178308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21208"/>
            <a:ext cx="17830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Aptos"/>
              </a:rPr>
              <a:t>EXECUTIVE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15568"/>
            <a:ext cx="813816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Why this agentic workflow creates real operating value on non-trivial delivery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331720"/>
            <a:ext cx="731520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Aptos"/>
              </a:rPr>
              <a:t>Executive version: less implementation detail, stronger emphasis on cost control, quality control, and repeatable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3977639"/>
            <a:ext cx="3520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105655"/>
            <a:ext cx="319125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Cost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544568"/>
            <a:ext cx="3191256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Stop fuzzy requests before they become expensive multi-step execution chains.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977639"/>
            <a:ext cx="3520440" cy="137160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4105655"/>
            <a:ext cx="319125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Execution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4544568"/>
            <a:ext cx="3191256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Route work to the minimum valid specialist chain instead of relying on a single broad prompt.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3977639"/>
            <a:ext cx="3520440" cy="137160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4105655"/>
            <a:ext cx="319125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Quality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4544568"/>
            <a:ext cx="3191256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Separate implementation from testing, review, and durable evidence so results are easier to trust.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Executive deck generated from the current .claude workflow definitions on 2026-06-20.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11480"/>
            <a:ext cx="1554480" cy="3657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9768"/>
            <a:ext cx="15544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498079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What leaders actually pay for without this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5440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11095"/>
            <a:ext cx="51114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Hidden costs of chat-only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50008"/>
            <a:ext cx="5111496" cy="3767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unclear requests convert into implementation work too early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one generalist workflow makes planning, coding, testing, and review decisions at once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handoffs restart from scratch because context lives in the conversation rather than in artifacts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quality checks become inconsistent when delivery pressure rises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83080"/>
            <a:ext cx="5394960" cy="44805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911095"/>
            <a:ext cx="506577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Operational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350008"/>
            <a:ext cx="5065776" cy="3767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more rework after assumptions fail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harder budget discipline on ambiguous tasks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lower confidence in whether the output was properly validated</a:t>
            </a:r>
          </a:p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- slower recovery when work needs to be resumed by another person or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The workflow exists to reduce these operational costs, not because multi-agent execution is fashionable.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438912"/>
            <a:ext cx="178308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457200"/>
            <a:ext cx="17830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Aptos"/>
              </a:rPr>
              <a:t>OPERATING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713232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The workflow in plain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2743200" cy="28803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39696"/>
            <a:ext cx="24140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1. Approve the right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78608"/>
            <a:ext cx="2414016" cy="21671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Clarify scope, estimate complexity, and stop unclear work before spend rises.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011680"/>
            <a:ext cx="27432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139696"/>
            <a:ext cx="24140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2. Route to the right specialist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578608"/>
            <a:ext cx="2414016" cy="21671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Send the task to the minimum valid combination of architecture, build, and quality roles.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2011680"/>
            <a:ext cx="2743200" cy="2880360"/>
          </a:xfrm>
          <a:prstGeom prst="roundRect">
            <a:avLst/>
          </a:prstGeom>
          <a:solidFill>
            <a:srgbClr val="FBCFE8"/>
          </a:solidFill>
          <a:ln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39696"/>
            <a:ext cx="24140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BE185D"/>
                </a:solidFill>
                <a:latin typeface="Aptos Display"/>
              </a:rPr>
              <a:t>3. Validate independently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578608"/>
            <a:ext cx="2414016" cy="21671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Use dedicated testing and read-only review steps rather than trusting self-validation.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7424" y="2011680"/>
            <a:ext cx="2743200" cy="288036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2016" y="2139696"/>
            <a:ext cx="241401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4. Preserve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2578608"/>
            <a:ext cx="2414016" cy="21671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Write down the route, decisions, results, and open risks so work can be resumed without rediscovery.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544068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Aptos"/>
              </a:rPr>
              <a:t>The key design choice is conditional depth: the workflow becomes more sophisticated only when the task is ambiguous, risky, or cross-functional.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This model is intentionally selective. It is designed to expand on non-trivial work and stay light on simple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11480"/>
            <a:ext cx="1554480" cy="3657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9768"/>
            <a:ext cx="15544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ROI DRIVERS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13232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Where the measurable value comes from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154680" cy="155448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11095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Lower rework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50008"/>
            <a:ext cx="2825496" cy="8412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Bad assumptions surface earlier, before a long implementation chain is already underway.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95928" y="1783080"/>
            <a:ext cx="3154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911095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Faster restarts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350008"/>
            <a:ext cx="2825496" cy="8412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Artifacts reduce the cost of resuming work across sessions, people, or agents.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97496" y="1783080"/>
            <a:ext cx="3154680" cy="155448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1911095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Better quality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2350008"/>
            <a:ext cx="2825496" cy="8412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Separate testing and review roles produce a cleaner signal on whether work is ready.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3154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922776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Better budget discipline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361688"/>
            <a:ext cx="2825496" cy="8412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Cost-band estimates and approval gates make it easier to stop or split expensive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95928" y="3794760"/>
            <a:ext cx="3154680" cy="1554480"/>
          </a:xfrm>
          <a:prstGeom prst="roundRect">
            <a:avLst/>
          </a:prstGeom>
          <a:solidFill>
            <a:srgbClr val="FBCFE8"/>
          </a:solidFill>
          <a:ln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3922776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BE185D"/>
                </a:solidFill>
                <a:latin typeface="Aptos Display"/>
              </a:rPr>
              <a:t>Scalable expertise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361688"/>
            <a:ext cx="2825496" cy="8412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Reusable skill packs let specialists apply shared standards without repeating prompt engineering every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97496" y="3794760"/>
            <a:ext cx="3154680" cy="15544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3922776"/>
            <a:ext cx="28254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Aptos Display"/>
              </a:rPr>
              <a:t>Lower coordination noise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4361688"/>
            <a:ext cx="2825496" cy="8412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Clear role boundaries and naming reduce routing churn before execution begins.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These gains show up most clearly on cross-stack, ambiguous, or high-confidence work rather than tiny one-step requests.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11480"/>
            <a:ext cx="1783080" cy="3657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9768"/>
            <a:ext cx="17830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WHEN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Where this model earns its keep and where it does not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83080"/>
          <a:ext cx="10972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669280"/>
              </a:tblGrid>
              <a:tr h="7040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Use this model when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Do not over-apply it when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The task spans frontend, backend, schema, testing, or review work.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The task is a tiny one-step edit or a quick factual answer.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Requirements are vague and need a clarification or approval gate.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There is no material ambiguity and the path is already obvious.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You care about auditability, resumability, or strong confidence before shipping.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The coordination overhead would exceed the value of extra control.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The work needs to survive beyond one chat or one specialist.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Speed matters more than repeatability and the risk of rework is low.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" y="5532120"/>
            <a:ext cx="10927080" cy="74980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660136"/>
            <a:ext cx="1059789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Leadership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6099048"/>
            <a:ext cx="10597896" cy="3657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The adoption mistake is not under-using agents. It is applying a heavy coordination model to work that does not need coordination.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 disciplined trigger policy is part of the ROI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384048"/>
            <a:ext cx="19659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402336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.claude agentic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438912"/>
            <a:ext cx="164592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457200"/>
            <a:ext cx="16459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Aptos"/>
              </a:rPr>
              <a:t>ADOPTION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777240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How to evaluate adoption in practice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7830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11095"/>
            <a:ext cx="319125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 Display"/>
              </a:rPr>
              <a:t>Start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50008"/>
            <a:ext cx="3191256" cy="9784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Pilot the model on cross-stack features, higher-risk changes, or work that already suffers from poor resumability.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783080"/>
            <a:ext cx="3520440" cy="169164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911095"/>
            <a:ext cx="319125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 Display"/>
              </a:rPr>
              <a:t>Measure these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350008"/>
            <a:ext cx="3191256" cy="9784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Time to approved scope, rework after implementation starts, validation coverage, and resume time after handoff.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520440" cy="169164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11095"/>
            <a:ext cx="319125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 Display"/>
              </a:rPr>
              <a:t>Keep the bar honest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350008"/>
            <a:ext cx="3191256" cy="9784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If the chain is longer than the risk profile requires, trim it. Coordination should pay for itself.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5669280" cy="1645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6000"/>
              </a:lnSpc>
            </a:pPr>
            <a:r>
              <a:rPr sz="1700">
                <a:solidFill>
                  <a:srgbClr val="E2E8F0"/>
                </a:solidFill>
                <a:latin typeface="Aptos"/>
              </a:rPr>
              <a:t>Suggested leadership KPIs:</a:t>
            </a:r>
          </a:p>
          <a:p>
            <a:pPr algn="l">
              <a:lnSpc>
                <a:spcPct val="116000"/>
              </a:lnSpc>
            </a:pPr>
            <a:r>
              <a:rPr sz="1700">
                <a:solidFill>
                  <a:srgbClr val="E2E8F0"/>
                </a:solidFill>
                <a:latin typeface="Aptos"/>
              </a:rPr>
              <a:t>- reduction in restarted work after handoff</a:t>
            </a:r>
          </a:p>
          <a:p>
            <a:pPr algn="l">
              <a:lnSpc>
                <a:spcPct val="116000"/>
              </a:lnSpc>
            </a:pPr>
            <a:r>
              <a:rPr sz="1700">
                <a:solidFill>
                  <a:srgbClr val="E2E8F0"/>
                </a:solidFill>
                <a:latin typeface="Aptos"/>
              </a:rPr>
              <a:t>- reduction in implementation rework from unclear scope</a:t>
            </a:r>
          </a:p>
          <a:p>
            <a:pPr algn="l">
              <a:lnSpc>
                <a:spcPct val="116000"/>
              </a:lnSpc>
            </a:pPr>
            <a:r>
              <a:rPr sz="1700">
                <a:solidFill>
                  <a:srgbClr val="E2E8F0"/>
                </a:solidFill>
                <a:latin typeface="Aptos"/>
              </a:rPr>
              <a:t>- improvement in validated completion rate</a:t>
            </a:r>
          </a:p>
          <a:p>
            <a:pPr algn="l">
              <a:lnSpc>
                <a:spcPct val="116000"/>
              </a:lnSpc>
            </a:pPr>
            <a:r>
              <a:rPr sz="1700">
                <a:solidFill>
                  <a:srgbClr val="E2E8F0"/>
                </a:solidFill>
                <a:latin typeface="Aptos"/>
              </a:rPr>
              <a:t>- time saved when resuming paused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01968" y="4096512"/>
            <a:ext cx="4663440" cy="1600200"/>
          </a:xfrm>
          <a:prstGeom prst="roundRect">
            <a:avLst/>
          </a:prstGeom>
          <a:solidFill>
            <a:srgbClr val="FBCFE8"/>
          </a:solidFill>
          <a:ln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4224528"/>
            <a:ext cx="4334255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BE185D"/>
                </a:solidFill>
                <a:latin typeface="Aptos Display"/>
              </a:rPr>
              <a:t>Bottom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4663440"/>
            <a:ext cx="4334255" cy="8869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1E293B"/>
                </a:solidFill>
                <a:latin typeface="Aptos"/>
              </a:rPr>
              <a:t>Treat the workflow as a governed delivery system for non-trivial AI-assisted work, not as a default pattern for every task.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19088"/>
            <a:ext cx="11338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The strongest executive story is selective adoption with measurable operating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